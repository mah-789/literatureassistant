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core problem: manual literature reviews are time-consuming and error-prone. Explain who the target users are (students, researchers) and why you chose this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node and edge. Highlight the conditional branch at Evaluate: if results are sufficient → proceed; if not → refine and retry (up to 2 attempts). This is why the workflow is Iterative +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node briefly. Emphasise that every node reads from and writes to the shared LiteratureState TypedDict — this is how LangGraph maintains context across the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Streamlit app tab. Run Input 1 (Transformer models) — show it skips refine_query. Run Input 2 (obscure topic) — show the loop firing and the refine step. Highlight the search_attempts counter in the debug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discuss: why LangGraph over LangChain alone, how InMemorySaver persistence works, how the structured output evaluator was implemented, and what limitations exist (DuckDuckGo rate limits, context window size).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AI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  ·  5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1A355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27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lose hours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searching, reading, and synthesising academic literature.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papers, incomplete summaries,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overlooked research gaps are common.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1A355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627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OUR 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10312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LangGraph 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searches the web &amp; Wikipedia, evaluates result quality, refines its queries, and generates a structured literature review — automatically.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academics, researchers.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Segment 0:00 – 1:00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Iterative Conditional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91440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+ CONDITIONAL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737360"/>
            <a:ext cx="91440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7320" y="173736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17320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73736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73736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51960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173736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6600" y="173736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6600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66760" y="246888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66760" y="2468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66760" y="320040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66760" y="3200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51960" y="28346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8B1A1A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5196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43000" y="1988820"/>
            <a:ext cx="27432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606040" y="1988820"/>
            <a:ext cx="22860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023360" y="1988820"/>
            <a:ext cx="22860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40680" y="1988820"/>
            <a:ext cx="22860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58000" y="1988820"/>
            <a:ext cx="22860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75320" y="1988820"/>
            <a:ext cx="9144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0" y="1988820"/>
            <a:ext cx="0" cy="48006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686800" y="2697480"/>
            <a:ext cx="0" cy="50292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46320" y="2240280"/>
            <a:ext cx="0" cy="59436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474720" y="3086100"/>
            <a:ext cx="77724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0" y="2240280"/>
            <a:ext cx="0" cy="82296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44068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Sufficient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2377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Loop back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8328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 retries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3703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Iterative + Conditional?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5760" y="40233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Evaluate node route to Summarize (pass) or Refine (fail), enabling adaptive behaviour.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looping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Search → Evaluate up to 2 times until results are sufficient, then forces forward.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Segment 1:00 – 2:30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Node-by-Node Walkthrough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841248"/>
          </a:xfrm>
          <a:prstGeom prst="roundRect">
            <a:avLst>
              <a:gd name="adj" fmla="val 10870"/>
            </a:avLst>
          </a:prstGeom>
          <a:solidFill>
            <a:srgbClr val="1A355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0149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analyze_topic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441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topic string from the last user message; resets search_attempts to 0.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251960" cy="841248"/>
          </a:xfrm>
          <a:prstGeom prst="roundRect">
            <a:avLst>
              <a:gd name="adj" fmla="val 10870"/>
            </a:avLst>
          </a:prstGeom>
          <a:solidFill>
            <a:srgbClr val="1A355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031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9751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search_papers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042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DuckDuckGo + Wikipedia in parallel; LLM suggests key search terms.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251960" cy="841248"/>
          </a:xfrm>
          <a:prstGeom prst="roundRect">
            <a:avLst>
              <a:gd name="adj" fmla="val 10870"/>
            </a:avLst>
          </a:prstGeom>
          <a:solidFill>
            <a:srgbClr val="1A355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93522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evaluate_results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26440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Structured-output LLM decides: sufficient_results = True/False.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4251960" cy="841248"/>
          </a:xfrm>
          <a:prstGeom prst="roundRect">
            <a:avLst>
              <a:gd name="adj" fmla="val 10870"/>
            </a:avLst>
          </a:prstGeom>
          <a:solidFill>
            <a:srgbClr val="1A355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0233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8953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refine_query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22452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Prepends 'latest research papers on ...' and loops back to search.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960120"/>
            <a:ext cx="4251960" cy="841248"/>
          </a:xfrm>
          <a:prstGeom prst="roundRect">
            <a:avLst>
              <a:gd name="adj" fmla="val 10870"/>
            </a:avLst>
          </a:prstGeom>
          <a:solidFill>
            <a:srgbClr val="1A355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10149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13441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condenses all search_results into key findings &amp; trends.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1920240"/>
            <a:ext cx="4251960" cy="841248"/>
          </a:xfrm>
          <a:prstGeom prst="roundRect">
            <a:avLst>
              <a:gd name="adj" fmla="val 10870"/>
            </a:avLst>
          </a:prstGeom>
          <a:solidFill>
            <a:srgbClr val="1A355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21031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19751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identify_gaps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23042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flags research gaps, limitations, and future opportunities.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880360"/>
            <a:ext cx="4251960" cy="841248"/>
          </a:xfrm>
          <a:prstGeom prst="roundRect">
            <a:avLst>
              <a:gd name="adj" fmla="val 10870"/>
            </a:avLst>
          </a:prstGeom>
          <a:solidFill>
            <a:srgbClr val="1A355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30632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293522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final_report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326440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a 6-section structured literature review report.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590288"/>
            <a:ext cx="8595360" cy="438912"/>
          </a:xfrm>
          <a:prstGeom prst="roundRect">
            <a:avLst>
              <a:gd name="adj" fmla="val 20833"/>
            </a:avLst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608576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keys: messages · topic · search_results · summaries · gaps · search_attempts · sufficient_results · final_report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Segment 1:00 – 2:30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Streamlit App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inputs to demonstrate branching / looping behaviour: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1A355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Input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in NLP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path: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results → evaluate = TRUE → proceeds directly to Summarize (no loop)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 taking the 'sufficient' branch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1A355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Input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cognition in fish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3317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path: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results → evaluate = FALSE → refine_query → search again (loop)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retry loop up to 2 attempts, then forced forward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Segment 2:30 – 4:30  ·  Switch to browser now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640080"/>
            <a:ext cx="2743200" cy="274320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0" y="6400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happy to walk through any node, edge, or design decision.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Segment 4:30 – 5:00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Review AI Agent</dc:title>
  <dc:subject>PptxGenJS Presentation</dc:subject>
  <dc:creator>PptxGenJS</dc:creator>
  <cp:lastModifiedBy>PptxGenJS</cp:lastModifiedBy>
  <cp:revision>1</cp:revision>
  <dcterms:created xsi:type="dcterms:W3CDTF">2026-06-10T22:59:02Z</dcterms:created>
  <dcterms:modified xsi:type="dcterms:W3CDTF">2026-06-10T22:59:02Z</dcterms:modified>
</cp:coreProperties>
</file>